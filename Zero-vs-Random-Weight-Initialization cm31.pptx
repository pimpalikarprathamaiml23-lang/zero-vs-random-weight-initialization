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Poor init loss</c:v>
                </c:pt>
              </c:strCache>
            </c:strRef>
          </c:tx>
          <c:spPr>
            <a:ln w="31750">
              <a:solidFill>
                <a:srgbClr val="E03B4E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0.92</c:v>
                </c:pt>
                <c:pt idx="1">
                  <c:v>0.89900000000000002</c:v>
                </c:pt>
                <c:pt idx="2">
                  <c:v>0.876</c:v>
                </c:pt>
                <c:pt idx="3">
                  <c:v>0.82799999999999996</c:v>
                </c:pt>
                <c:pt idx="4">
                  <c:v>0.78</c:v>
                </c:pt>
                <c:pt idx="5">
                  <c:v>0.76200000000000001</c:v>
                </c:pt>
                <c:pt idx="6">
                  <c:v>0.78100000000000003</c:v>
                </c:pt>
                <c:pt idx="7">
                  <c:v>0.81100000000000005</c:v>
                </c:pt>
                <c:pt idx="8">
                  <c:v>0.81799999999999995</c:v>
                </c:pt>
                <c:pt idx="9">
                  <c:v>0.78900000000000003</c:v>
                </c:pt>
                <c:pt idx="10">
                  <c:v>0.746</c:v>
                </c:pt>
                <c:pt idx="11">
                  <c:v>0.72299999999999998</c:v>
                </c:pt>
                <c:pt idx="12">
                  <c:v>0.73799999999999999</c:v>
                </c:pt>
                <c:pt idx="13">
                  <c:v>0.77200000000000002</c:v>
                </c:pt>
                <c:pt idx="14">
                  <c:v>0.79100000000000004</c:v>
                </c:pt>
                <c:pt idx="15">
                  <c:v>0.77400000000000002</c:v>
                </c:pt>
                <c:pt idx="16">
                  <c:v>0.73399999999999999</c:v>
                </c:pt>
                <c:pt idx="17">
                  <c:v>0.70399999999999996</c:v>
                </c:pt>
                <c:pt idx="18">
                  <c:v>0.70899999999999996</c:v>
                </c:pt>
                <c:pt idx="19">
                  <c:v>0.74299999999999999</c:v>
                </c:pt>
                <c:pt idx="20">
                  <c:v>0.77100000000000002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968-472B-B7FC-370C78628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6204A"/>
                    </a:solidFill>
                    <a:latin typeface="Segoe UI"/>
                  </a:rPr>
                  <a:t>Training Epochs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E2E7F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6204A"/>
                    </a:solidFill>
                    <a:latin typeface="Segoe UI"/>
                  </a:rPr>
                  <a:t>Loss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A668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init loss</c:v>
                </c:pt>
              </c:strCache>
            </c:strRef>
          </c:tx>
          <c:spPr>
            <a:ln w="31750">
              <a:solidFill>
                <a:srgbClr val="12A46B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0.97</c:v>
                </c:pt>
                <c:pt idx="1">
                  <c:v>0.78700000000000003</c:v>
                </c:pt>
                <c:pt idx="2">
                  <c:v>0.64</c:v>
                </c:pt>
                <c:pt idx="3">
                  <c:v>0.52200000000000002</c:v>
                </c:pt>
                <c:pt idx="4">
                  <c:v>0.42799999999999999</c:v>
                </c:pt>
                <c:pt idx="5">
                  <c:v>0.35299999999999998</c:v>
                </c:pt>
                <c:pt idx="6">
                  <c:v>0.29299999999999998</c:v>
                </c:pt>
                <c:pt idx="7">
                  <c:v>0.24399999999999999</c:v>
                </c:pt>
                <c:pt idx="8">
                  <c:v>0.20499999999999999</c:v>
                </c:pt>
                <c:pt idx="9">
                  <c:v>0.17499999999999999</c:v>
                </c:pt>
                <c:pt idx="10">
                  <c:v>0.15</c:v>
                </c:pt>
                <c:pt idx="11">
                  <c:v>0.13</c:v>
                </c:pt>
                <c:pt idx="12">
                  <c:v>0.114</c:v>
                </c:pt>
                <c:pt idx="13">
                  <c:v>0.10100000000000001</c:v>
                </c:pt>
                <c:pt idx="14">
                  <c:v>9.0999999999999998E-2</c:v>
                </c:pt>
                <c:pt idx="15">
                  <c:v>8.3000000000000004E-2</c:v>
                </c:pt>
                <c:pt idx="16">
                  <c:v>7.5999999999999998E-2</c:v>
                </c:pt>
                <c:pt idx="17">
                  <c:v>7.0999999999999994E-2</c:v>
                </c:pt>
                <c:pt idx="18">
                  <c:v>6.7000000000000004E-2</c:v>
                </c:pt>
                <c:pt idx="19">
                  <c:v>6.3E-2</c:v>
                </c:pt>
                <c:pt idx="20">
                  <c:v>6.0999999999999999E-2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EE1-4812-8FEE-50A5AE9B80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6204A"/>
                    </a:solidFill>
                    <a:latin typeface="Segoe UI"/>
                  </a:rPr>
                  <a:t>Training Epochs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E2E7F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6204A"/>
                    </a:solidFill>
                    <a:latin typeface="Segoe UI"/>
                  </a:rPr>
                  <a:t>Loss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A668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6204A"/>
                </a:solidFill>
                <a:latin typeface="Segoe UI"/>
              </a:rPr>
              <a:t>Training Accuracy vs Epochs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 Initialization</c:v>
                </c:pt>
              </c:strCache>
            </c:strRef>
          </c:tx>
          <c:spPr>
            <a:ln w="31750">
              <a:solidFill>
                <a:srgbClr val="E03B4E"/>
              </a:solidFill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11</c:v>
                </c:pt>
                <c:pt idx="1">
                  <c:v>11.17</c:v>
                </c:pt>
                <c:pt idx="2">
                  <c:v>11.3</c:v>
                </c:pt>
                <c:pt idx="3">
                  <c:v>11.38</c:v>
                </c:pt>
                <c:pt idx="4">
                  <c:v>11.4</c:v>
                </c:pt>
                <c:pt idx="5">
                  <c:v>11.35</c:v>
                </c:pt>
                <c:pt idx="6">
                  <c:v>11.23</c:v>
                </c:pt>
                <c:pt idx="7">
                  <c:v>11.07</c:v>
                </c:pt>
                <c:pt idx="8">
                  <c:v>10.88</c:v>
                </c:pt>
                <c:pt idx="9">
                  <c:v>10.69</c:v>
                </c:pt>
                <c:pt idx="10">
                  <c:v>10.5</c:v>
                </c:pt>
                <c:pt idx="11">
                  <c:v>10.35</c:v>
                </c:pt>
                <c:pt idx="12">
                  <c:v>10.24</c:v>
                </c:pt>
                <c:pt idx="13">
                  <c:v>10.199999999999999</c:v>
                </c:pt>
                <c:pt idx="14">
                  <c:v>10.220000000000001</c:v>
                </c:pt>
                <c:pt idx="15">
                  <c:v>10.31</c:v>
                </c:pt>
                <c:pt idx="16">
                  <c:v>10.45</c:v>
                </c:pt>
                <c:pt idx="17">
                  <c:v>10.63</c:v>
                </c:pt>
                <c:pt idx="18">
                  <c:v>10.83</c:v>
                </c:pt>
                <c:pt idx="19">
                  <c:v>11.02</c:v>
                </c:pt>
                <c:pt idx="20">
                  <c:v>11.19</c:v>
                </c:pt>
                <c:pt idx="21">
                  <c:v>11.32</c:v>
                </c:pt>
                <c:pt idx="22">
                  <c:v>11.39</c:v>
                </c:pt>
                <c:pt idx="23">
                  <c:v>11.39</c:v>
                </c:pt>
                <c:pt idx="24">
                  <c:v>11.33</c:v>
                </c:pt>
                <c:pt idx="25">
                  <c:v>11.21</c:v>
                </c:pt>
                <c:pt idx="26">
                  <c:v>11.05</c:v>
                </c:pt>
                <c:pt idx="27">
                  <c:v>10.85</c:v>
                </c:pt>
                <c:pt idx="28">
                  <c:v>10.66</c:v>
                </c:pt>
                <c:pt idx="29">
                  <c:v>10.47</c:v>
                </c:pt>
                <c:pt idx="30">
                  <c:v>10.33</c:v>
                </c:pt>
                <c:pt idx="31">
                  <c:v>10.23</c:v>
                </c:pt>
                <c:pt idx="32">
                  <c:v>10.199999999999999</c:v>
                </c:pt>
                <c:pt idx="33">
                  <c:v>10.23</c:v>
                </c:pt>
                <c:pt idx="34">
                  <c:v>10.33</c:v>
                </c:pt>
                <c:pt idx="35">
                  <c:v>10.48</c:v>
                </c:pt>
                <c:pt idx="36">
                  <c:v>10.66</c:v>
                </c:pt>
                <c:pt idx="37">
                  <c:v>10.86</c:v>
                </c:pt>
                <c:pt idx="38">
                  <c:v>11.05</c:v>
                </c:pt>
                <c:pt idx="39">
                  <c:v>11.22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8D0-42AC-9191-6852995421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Initialization</c:v>
                </c:pt>
              </c:strCache>
            </c:strRef>
          </c:tx>
          <c:spPr>
            <a:ln w="31750">
              <a:solidFill>
                <a:srgbClr val="12A46B"/>
              </a:solidFill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11.86</c:v>
                </c:pt>
                <c:pt idx="1">
                  <c:v>22.24</c:v>
                </c:pt>
                <c:pt idx="2">
                  <c:v>31.22</c:v>
                </c:pt>
                <c:pt idx="3">
                  <c:v>38.86</c:v>
                </c:pt>
                <c:pt idx="4">
                  <c:v>45.33</c:v>
                </c:pt>
                <c:pt idx="5">
                  <c:v>50.82</c:v>
                </c:pt>
                <c:pt idx="6">
                  <c:v>55.56</c:v>
                </c:pt>
                <c:pt idx="7">
                  <c:v>59.78</c:v>
                </c:pt>
                <c:pt idx="8">
                  <c:v>63.66</c:v>
                </c:pt>
                <c:pt idx="9">
                  <c:v>67.34</c:v>
                </c:pt>
                <c:pt idx="10">
                  <c:v>70.88</c:v>
                </c:pt>
                <c:pt idx="11">
                  <c:v>74.239999999999995</c:v>
                </c:pt>
                <c:pt idx="12">
                  <c:v>77.349999999999994</c:v>
                </c:pt>
                <c:pt idx="13">
                  <c:v>80.11</c:v>
                </c:pt>
                <c:pt idx="14">
                  <c:v>82.4</c:v>
                </c:pt>
                <c:pt idx="15">
                  <c:v>84.2</c:v>
                </c:pt>
                <c:pt idx="16">
                  <c:v>85.49</c:v>
                </c:pt>
                <c:pt idx="17">
                  <c:v>86.38</c:v>
                </c:pt>
                <c:pt idx="18">
                  <c:v>86.98</c:v>
                </c:pt>
                <c:pt idx="19">
                  <c:v>87.47</c:v>
                </c:pt>
                <c:pt idx="20">
                  <c:v>87.99</c:v>
                </c:pt>
                <c:pt idx="21">
                  <c:v>88.66</c:v>
                </c:pt>
                <c:pt idx="22">
                  <c:v>89.53</c:v>
                </c:pt>
                <c:pt idx="23">
                  <c:v>90.58</c:v>
                </c:pt>
                <c:pt idx="24">
                  <c:v>91.7</c:v>
                </c:pt>
                <c:pt idx="25">
                  <c:v>92.78</c:v>
                </c:pt>
                <c:pt idx="26">
                  <c:v>93.68</c:v>
                </c:pt>
                <c:pt idx="27">
                  <c:v>94.29</c:v>
                </c:pt>
                <c:pt idx="28">
                  <c:v>94.56</c:v>
                </c:pt>
                <c:pt idx="29">
                  <c:v>94.52</c:v>
                </c:pt>
                <c:pt idx="30">
                  <c:v>94.26</c:v>
                </c:pt>
                <c:pt idx="31">
                  <c:v>93.9</c:v>
                </c:pt>
                <c:pt idx="32">
                  <c:v>93.59</c:v>
                </c:pt>
                <c:pt idx="33">
                  <c:v>93.48</c:v>
                </c:pt>
                <c:pt idx="34">
                  <c:v>93.62</c:v>
                </c:pt>
                <c:pt idx="35">
                  <c:v>94.03</c:v>
                </c:pt>
                <c:pt idx="36">
                  <c:v>94.65</c:v>
                </c:pt>
                <c:pt idx="37">
                  <c:v>95.35</c:v>
                </c:pt>
                <c:pt idx="38">
                  <c:v>95.99</c:v>
                </c:pt>
                <c:pt idx="39">
                  <c:v>96.45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8D0-42AC-9191-6852995421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6204A"/>
                    </a:solidFill>
                    <a:latin typeface="Segoe UI"/>
                  </a:rPr>
                  <a:t>Training Epochs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2E7F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6204A"/>
                    </a:solidFill>
                    <a:latin typeface="Segoe UI"/>
                  </a:rPr>
                  <a:t>Accuracy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16204A"/>
              </a:solidFill>
              <a:latin typeface="Segoe U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A668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6204A"/>
                </a:solidFill>
                <a:latin typeface="Segoe UI"/>
              </a:rPr>
              <a:t>Training Loss vs Epochs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 Initialization</c:v>
                </c:pt>
              </c:strCache>
            </c:strRef>
          </c:tx>
          <c:spPr>
            <a:ln w="31750">
              <a:solidFill>
                <a:srgbClr val="E03B4E"/>
              </a:solidFill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2.266</c:v>
                </c:pt>
                <c:pt idx="1">
                  <c:v>2.258</c:v>
                </c:pt>
                <c:pt idx="2">
                  <c:v>2.2519999999999998</c:v>
                </c:pt>
                <c:pt idx="3">
                  <c:v>2.2480000000000002</c:v>
                </c:pt>
                <c:pt idx="4">
                  <c:v>2.2440000000000002</c:v>
                </c:pt>
                <c:pt idx="5">
                  <c:v>2.2410000000000001</c:v>
                </c:pt>
                <c:pt idx="6">
                  <c:v>2.238</c:v>
                </c:pt>
                <c:pt idx="7">
                  <c:v>2.2360000000000002</c:v>
                </c:pt>
                <c:pt idx="8">
                  <c:v>2.234</c:v>
                </c:pt>
                <c:pt idx="9">
                  <c:v>2.2320000000000002</c:v>
                </c:pt>
                <c:pt idx="10">
                  <c:v>2.23</c:v>
                </c:pt>
                <c:pt idx="11">
                  <c:v>2.2290000000000001</c:v>
                </c:pt>
                <c:pt idx="12">
                  <c:v>2.2269999999999999</c:v>
                </c:pt>
                <c:pt idx="13">
                  <c:v>2.226</c:v>
                </c:pt>
                <c:pt idx="14">
                  <c:v>2.2250000000000001</c:v>
                </c:pt>
                <c:pt idx="15">
                  <c:v>2.2229999999999999</c:v>
                </c:pt>
                <c:pt idx="16">
                  <c:v>2.222</c:v>
                </c:pt>
                <c:pt idx="17">
                  <c:v>2.2210000000000001</c:v>
                </c:pt>
                <c:pt idx="18">
                  <c:v>2.2200000000000002</c:v>
                </c:pt>
                <c:pt idx="19">
                  <c:v>2.2189999999999999</c:v>
                </c:pt>
                <c:pt idx="20">
                  <c:v>2.218</c:v>
                </c:pt>
                <c:pt idx="21">
                  <c:v>2.2170000000000001</c:v>
                </c:pt>
                <c:pt idx="22">
                  <c:v>2.2160000000000002</c:v>
                </c:pt>
                <c:pt idx="23">
                  <c:v>2.2160000000000002</c:v>
                </c:pt>
                <c:pt idx="24">
                  <c:v>2.2149999999999999</c:v>
                </c:pt>
                <c:pt idx="25">
                  <c:v>2.214</c:v>
                </c:pt>
                <c:pt idx="26">
                  <c:v>2.2130000000000001</c:v>
                </c:pt>
                <c:pt idx="27">
                  <c:v>2.2130000000000001</c:v>
                </c:pt>
                <c:pt idx="28">
                  <c:v>2.2120000000000002</c:v>
                </c:pt>
                <c:pt idx="29">
                  <c:v>2.2109999999999999</c:v>
                </c:pt>
                <c:pt idx="30">
                  <c:v>2.2109999999999999</c:v>
                </c:pt>
                <c:pt idx="31">
                  <c:v>2.21</c:v>
                </c:pt>
                <c:pt idx="32">
                  <c:v>2.2090000000000001</c:v>
                </c:pt>
                <c:pt idx="33">
                  <c:v>2.2090000000000001</c:v>
                </c:pt>
                <c:pt idx="34">
                  <c:v>2.2080000000000002</c:v>
                </c:pt>
                <c:pt idx="35">
                  <c:v>2.2080000000000002</c:v>
                </c:pt>
                <c:pt idx="36">
                  <c:v>2.2069999999999999</c:v>
                </c:pt>
                <c:pt idx="37">
                  <c:v>2.2069999999999999</c:v>
                </c:pt>
                <c:pt idx="38">
                  <c:v>2.206</c:v>
                </c:pt>
                <c:pt idx="39">
                  <c:v>2.206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21-4EAA-837C-1F02818C67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Initialization</c:v>
                </c:pt>
              </c:strCache>
            </c:strRef>
          </c:tx>
          <c:spPr>
            <a:ln w="31750">
              <a:solidFill>
                <a:srgbClr val="12A46B"/>
              </a:solidFill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2.0840000000000001</c:v>
                </c:pt>
                <c:pt idx="1">
                  <c:v>1.8180000000000001</c:v>
                </c:pt>
                <c:pt idx="2">
                  <c:v>1.5880000000000001</c:v>
                </c:pt>
                <c:pt idx="3">
                  <c:v>1.389</c:v>
                </c:pt>
                <c:pt idx="4">
                  <c:v>1.216</c:v>
                </c:pt>
                <c:pt idx="5">
                  <c:v>1.0660000000000001</c:v>
                </c:pt>
                <c:pt idx="6">
                  <c:v>0.93600000000000005</c:v>
                </c:pt>
                <c:pt idx="7">
                  <c:v>0.82299999999999995</c:v>
                </c:pt>
                <c:pt idx="8">
                  <c:v>0.72599999999999998</c:v>
                </c:pt>
                <c:pt idx="9">
                  <c:v>0.64100000000000001</c:v>
                </c:pt>
                <c:pt idx="10">
                  <c:v>0.56799999999999995</c:v>
                </c:pt>
                <c:pt idx="11">
                  <c:v>0.504</c:v>
                </c:pt>
                <c:pt idx="12">
                  <c:v>0.44900000000000001</c:v>
                </c:pt>
                <c:pt idx="13">
                  <c:v>0.40100000000000002</c:v>
                </c:pt>
                <c:pt idx="14">
                  <c:v>0.36</c:v>
                </c:pt>
                <c:pt idx="15">
                  <c:v>0.32400000000000001</c:v>
                </c:pt>
                <c:pt idx="16">
                  <c:v>0.29299999999999998</c:v>
                </c:pt>
                <c:pt idx="17">
                  <c:v>0.26600000000000001</c:v>
                </c:pt>
                <c:pt idx="18">
                  <c:v>0.24199999999999999</c:v>
                </c:pt>
                <c:pt idx="19">
                  <c:v>0.222</c:v>
                </c:pt>
                <c:pt idx="20">
                  <c:v>0.20499999999999999</c:v>
                </c:pt>
                <c:pt idx="21">
                  <c:v>0.189</c:v>
                </c:pt>
                <c:pt idx="22">
                  <c:v>0.17599999999999999</c:v>
                </c:pt>
                <c:pt idx="23">
                  <c:v>0.16500000000000001</c:v>
                </c:pt>
                <c:pt idx="24">
                  <c:v>0.155</c:v>
                </c:pt>
                <c:pt idx="25">
                  <c:v>0.14599999999999999</c:v>
                </c:pt>
                <c:pt idx="26">
                  <c:v>0.13900000000000001</c:v>
                </c:pt>
                <c:pt idx="27">
                  <c:v>0.13200000000000001</c:v>
                </c:pt>
                <c:pt idx="28">
                  <c:v>0.127</c:v>
                </c:pt>
                <c:pt idx="29">
                  <c:v>0.122</c:v>
                </c:pt>
                <c:pt idx="30">
                  <c:v>0.11700000000000001</c:v>
                </c:pt>
                <c:pt idx="31">
                  <c:v>0.114</c:v>
                </c:pt>
                <c:pt idx="32">
                  <c:v>0.111</c:v>
                </c:pt>
                <c:pt idx="33">
                  <c:v>0.108</c:v>
                </c:pt>
                <c:pt idx="34">
                  <c:v>0.105</c:v>
                </c:pt>
                <c:pt idx="35">
                  <c:v>0.10299999999999999</c:v>
                </c:pt>
                <c:pt idx="36">
                  <c:v>0.10199999999999999</c:v>
                </c:pt>
                <c:pt idx="37">
                  <c:v>0.1</c:v>
                </c:pt>
                <c:pt idx="38">
                  <c:v>9.9000000000000005E-2</c:v>
                </c:pt>
                <c:pt idx="39">
                  <c:v>9.8000000000000004E-2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F21-4EAA-837C-1F02818C6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6204A"/>
                    </a:solidFill>
                    <a:latin typeface="Segoe UI"/>
                  </a:rPr>
                  <a:t>Training Epochs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.5"/>
          <c:min val="0"/>
        </c:scaling>
        <c:delete val="0"/>
        <c:axPos val="l"/>
        <c:majorGridlines>
          <c:spPr>
            <a:ln>
              <a:solidFill>
                <a:srgbClr val="E2E7F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6204A"/>
                    </a:solidFill>
                    <a:latin typeface="Segoe UI"/>
                  </a:rPr>
                  <a:t>Loss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16204A"/>
              </a:solidFill>
              <a:latin typeface="Segoe U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A668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7223760" cy="50292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7772400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B9C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•  SEMINAR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588752" cy="180562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Zero Initialization</a:t>
            </a:r>
          </a:p>
          <a:p>
            <a:pPr algn="l">
              <a:spcAft>
                <a:spcPts val="200"/>
              </a:spcAft>
            </a:pPr>
            <a:r>
              <a:rPr sz="3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Random Initialization</a:t>
            </a:r>
          </a:p>
          <a:p>
            <a:pPr algn="l">
              <a:spcAft>
                <a:spcPts val="200"/>
              </a:spcAft>
            </a:pPr>
            <a:r>
              <a:rPr sz="3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66160"/>
            <a:ext cx="7863840" cy="2769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1">
                <a:solidFill>
                  <a:srgbClr val="C9B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Artificial Neural Networks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6858000" cy="1645920"/>
          </a:xfrm>
          <a:prstGeom prst="roundRect">
            <a:avLst>
              <a:gd name="adj" fmla="val 6000"/>
            </a:avLst>
          </a:prstGeom>
          <a:solidFill>
            <a:srgbClr val="121C45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31089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9FB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291840" cy="3077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30368"/>
            <a:ext cx="329184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D5D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USN No. : CM23031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480560"/>
            <a:ext cx="18288" cy="1280160"/>
          </a:xfrm>
          <a:prstGeom prst="rect">
            <a:avLst/>
          </a:prstGeom>
          <a:solidFill>
            <a:srgbClr val="3B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60" y="4462272"/>
            <a:ext cx="292608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9FB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754880"/>
            <a:ext cx="3017520" cy="40011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394960"/>
            <a:ext cx="3017520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D5D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: N-PCCCM701T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44768"/>
            <a:ext cx="8229600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A9B8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—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Neural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 — structure and building blocks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02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513332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16" y="1463040"/>
            <a:ext cx="3840480" cy="41549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ANN: computing model inspired by biological neurons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116836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3816" y="2066544"/>
            <a:ext cx="384048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Layers of neurons joined by weighted connections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720340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" y="2670048"/>
            <a:ext cx="384048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 — receives the feature vector x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323844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3816" y="3273552"/>
            <a:ext cx="384048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Layer(s) — extract internal representations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927348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3816" y="3877056"/>
            <a:ext cx="384048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— produces the prediction ŷ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530852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3816" y="4480560"/>
            <a:ext cx="384048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W and biases b are the learnable parameters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1417320"/>
            <a:ext cx="6812280" cy="3977639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0055" y="1289304"/>
            <a:ext cx="3003804" cy="274320"/>
          </a:xfrm>
          <a:prstGeom prst="roundRect">
            <a:avLst>
              <a:gd name="adj" fmla="val 4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93207" y="1325880"/>
            <a:ext cx="2912364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ARCHITECTURE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951098" y="2596585"/>
            <a:ext cx="2347081" cy="321722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51098" y="2918307"/>
            <a:ext cx="2347081" cy="195755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51098" y="2918307"/>
            <a:ext cx="2347081" cy="713232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51098" y="2918307"/>
            <a:ext cx="2347081" cy="1230709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51098" y="2918307"/>
            <a:ext cx="2347081" cy="1748187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951098" y="2596585"/>
            <a:ext cx="2347081" cy="1034954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951098" y="3114062"/>
            <a:ext cx="2347081" cy="517477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51098" y="3631539"/>
            <a:ext cx="2347081" cy="0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51098" y="3631539"/>
            <a:ext cx="2347081" cy="517477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951098" y="3631539"/>
            <a:ext cx="2347081" cy="1034955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951098" y="2596585"/>
            <a:ext cx="2347081" cy="1748186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951098" y="3114062"/>
            <a:ext cx="2347081" cy="1230709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1098" y="3631539"/>
            <a:ext cx="2347081" cy="713232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951098" y="4149016"/>
            <a:ext cx="2347081" cy="195755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51098" y="4344771"/>
            <a:ext cx="2347081" cy="321723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98179" y="2596585"/>
            <a:ext cx="2347082" cy="678338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98179" y="2596585"/>
            <a:ext cx="2347082" cy="1391570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98179" y="3114062"/>
            <a:ext cx="2347082" cy="160861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298179" y="3114062"/>
            <a:ext cx="2347082" cy="874093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298179" y="3274923"/>
            <a:ext cx="2347082" cy="356616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98179" y="3631539"/>
            <a:ext cx="2347082" cy="356616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298179" y="3274923"/>
            <a:ext cx="2347082" cy="874093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298179" y="3988155"/>
            <a:ext cx="2347082" cy="160861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298179" y="3274923"/>
            <a:ext cx="2347082" cy="1391571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298179" y="3988155"/>
            <a:ext cx="2347082" cy="678339"/>
          </a:xfrm>
          <a:prstGeom prst="line">
            <a:avLst/>
          </a:prstGeom>
          <a:ln w="1270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761961" y="2729171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761961" y="3442403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761961" y="4155635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09043" y="2407448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8109043" y="2924925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8109043" y="3442403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8109043" y="3959880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109043" y="4477357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10456125" y="3085787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B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10456125" y="3799019"/>
            <a:ext cx="378272" cy="3782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B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082418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29500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76581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92040" y="5559552"/>
            <a:ext cx="6812280" cy="80467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892040" y="5605272"/>
            <a:ext cx="73152" cy="713232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111496" y="5669280"/>
            <a:ext cx="642823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 computation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11496" y="6129419"/>
            <a:ext cx="6428232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f( Σ wᵢ xᵢ + b )    where f = activation (ReLU / sigmoid / tanh)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5394960"/>
            <a:ext cx="4114800" cy="969264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02920" y="5440680"/>
            <a:ext cx="73152" cy="877824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22376" y="5504688"/>
            <a:ext cx="373075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964827"/>
            <a:ext cx="373075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= repeatedly adjusting W and b to reduce the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Weight Initialization?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starting values of W and b before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03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513332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16" y="1463040"/>
            <a:ext cx="48463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Assigning starting values of weights before epoch 1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080260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3816" y="2029968"/>
            <a:ext cx="48463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is iterative — it must begin somewhere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647188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" y="2596896"/>
            <a:ext cx="48463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control how strongly signals propagate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214116"/>
            <a:ext cx="182880" cy="18288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3816" y="3163824"/>
            <a:ext cx="48463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shapes gradients, speed and stability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86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2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 W x +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92040"/>
            <a:ext cx="5394960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initial value of W directly influences z, every activation and every gradient that follows.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417320"/>
            <a:ext cx="5596128" cy="1691640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54496" y="1289304"/>
            <a:ext cx="3483864" cy="274320"/>
          </a:xfrm>
          <a:prstGeom prst="roundRect">
            <a:avLst>
              <a:gd name="adj" fmla="val 4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27648" y="1325880"/>
            <a:ext cx="3392424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WEIGHT TRAINING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1929384"/>
            <a:ext cx="841247" cy="658368"/>
          </a:xfrm>
          <a:prstGeom prst="roundRect">
            <a:avLst>
              <a:gd name="adj" fmla="val 16000"/>
            </a:avLst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32320" y="2167127"/>
            <a:ext cx="219456" cy="182880"/>
          </a:xfrm>
          <a:prstGeom prst="right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88352" y="1929384"/>
            <a:ext cx="841247" cy="658368"/>
          </a:xfrm>
          <a:prstGeom prst="roundRect">
            <a:avLst>
              <a:gd name="adj" fmla="val 16000"/>
            </a:avLst>
          </a:prstGeom>
          <a:solidFill>
            <a:srgbClr val="36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247888" y="2167127"/>
            <a:ext cx="219456" cy="182880"/>
          </a:xfrm>
          <a:prstGeom prst="right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503920" y="1929384"/>
            <a:ext cx="841247" cy="658368"/>
          </a:xfrm>
          <a:prstGeom prst="roundRect">
            <a:avLst>
              <a:gd name="adj" fmla="val 16000"/>
            </a:avLst>
          </a:prstGeom>
          <a:solidFill>
            <a:srgbClr val="4D3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63456" y="2167127"/>
            <a:ext cx="219456" cy="182880"/>
          </a:xfrm>
          <a:prstGeom prst="right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619488" y="1929384"/>
            <a:ext cx="841247" cy="658368"/>
          </a:xfrm>
          <a:prstGeom prst="roundRect">
            <a:avLst>
              <a:gd name="adj" fmla="val 16000"/>
            </a:avLst>
          </a:prstGeom>
          <a:solidFill>
            <a:srgbClr val="643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479024" y="2167127"/>
            <a:ext cx="219456" cy="182880"/>
          </a:xfrm>
          <a:prstGeom prst="right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735056" y="1929384"/>
            <a:ext cx="841247" cy="658368"/>
          </a:xfrm>
          <a:prstGeom prst="roundRect">
            <a:avLst>
              <a:gd name="adj" fmla="val 16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291840"/>
            <a:ext cx="5596128" cy="2148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26480" y="3337560"/>
            <a:ext cx="73152" cy="2057400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45936" y="3401568"/>
            <a:ext cx="521208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3878035"/>
            <a:ext cx="5212080" cy="121828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 Initialize W, b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Forward propagate → ŷ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 Compute loss L(ŷ, y)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 Backpropagate gradients ∂L/∂W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 Update:  W := W − η · ∂L/∂W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77840"/>
            <a:ext cx="5394960" cy="7772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" y="5623559"/>
            <a:ext cx="73152" cy="685800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2376" y="5687568"/>
            <a:ext cx="501091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" y="6147707"/>
            <a:ext cx="501091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W needs care — biases are commonly initialised to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Proper Initialization Important?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benefits of a well-chosen starting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103120" cy="14173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325880" y="1481328"/>
            <a:ext cx="457200" cy="45720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1554480"/>
            <a:ext cx="457200" cy="2308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29968"/>
            <a:ext cx="1920240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Convergence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59152"/>
            <a:ext cx="1920240" cy="1538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loss in fewer epochs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1371600"/>
            <a:ext cx="2103120" cy="14173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3611879" y="1481328"/>
            <a:ext cx="457200" cy="45720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1879" y="1554480"/>
            <a:ext cx="457200" cy="2308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029968"/>
            <a:ext cx="1920240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359152"/>
            <a:ext cx="1920240" cy="1538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oscillation or divergence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371600"/>
            <a:ext cx="2103120" cy="14173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897880" y="1481328"/>
            <a:ext cx="457200" cy="457200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97880" y="1554480"/>
            <a:ext cx="457200" cy="2308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029968"/>
            <a:ext cx="1920240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12A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Gradient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2359152"/>
            <a:ext cx="1920240" cy="1538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vanishing / exploding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1371600"/>
            <a:ext cx="2103120" cy="14173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E0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183880" y="1481328"/>
            <a:ext cx="457200" cy="457200"/>
          </a:xfrm>
          <a:prstGeom prst="ellipse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83880" y="1554480"/>
            <a:ext cx="457200" cy="2308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29968"/>
            <a:ext cx="1920240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E07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359152"/>
            <a:ext cx="1920240" cy="1538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Neurons specialise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1371600"/>
            <a:ext cx="2103120" cy="14173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0FB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469880" y="1481328"/>
            <a:ext cx="457200" cy="457200"/>
          </a:xfrm>
          <a:prstGeom prst="ellipse">
            <a:avLst/>
          </a:prstGeom>
          <a:solidFill>
            <a:srgbClr val="0FB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69880" y="1554480"/>
            <a:ext cx="457200" cy="2308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029968"/>
            <a:ext cx="1920240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0FB5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359152"/>
            <a:ext cx="1920240" cy="15388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017520"/>
            <a:ext cx="5486400" cy="3017520"/>
          </a:xfrm>
          <a:prstGeom prst="roundRect">
            <a:avLst>
              <a:gd name="adj" fmla="val 3000"/>
            </a:avLst>
          </a:prstGeom>
          <a:solidFill>
            <a:srgbClr val="FDECEE"/>
          </a:solidFill>
          <a:ln w="15875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30936" y="2889503"/>
            <a:ext cx="2523744" cy="274320"/>
          </a:xfrm>
          <a:prstGeom prst="roundRect">
            <a:avLst>
              <a:gd name="adj" fmla="val 40000"/>
            </a:avLst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04088" y="2926079"/>
            <a:ext cx="2432304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  POOR INITIALIZATION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" y="3273551"/>
            <a:ext cx="5193792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stagnates → difficult training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983368"/>
              </p:ext>
            </p:extLst>
          </p:nvPr>
        </p:nvGraphicFramePr>
        <p:xfrm>
          <a:off x="694944" y="3566159"/>
          <a:ext cx="5102352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6217920" y="3017520"/>
            <a:ext cx="5486400" cy="3017520"/>
          </a:xfrm>
          <a:prstGeom prst="roundRect">
            <a:avLst>
              <a:gd name="adj" fmla="val 3000"/>
            </a:avLst>
          </a:prstGeom>
          <a:solidFill>
            <a:srgbClr val="ECFBF4"/>
          </a:solidFill>
          <a:ln w="15875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345936" y="2889503"/>
            <a:ext cx="2523744" cy="274320"/>
          </a:xfrm>
          <a:prstGeom prst="roundRect">
            <a:avLst>
              <a:gd name="adj" fmla="val 40000"/>
            </a:avLst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19088" y="2926079"/>
            <a:ext cx="2432304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GOOD INITIALIZATION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4224" y="3273551"/>
            <a:ext cx="5193792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2A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training → faster convergence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879754"/>
              </p:ext>
            </p:extLst>
          </p:nvPr>
        </p:nvGraphicFramePr>
        <p:xfrm>
          <a:off x="6409944" y="3566159"/>
          <a:ext cx="5102352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weights are set to zero before training begins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73152" cy="822960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" y="1527048"/>
            <a:ext cx="4690872" cy="2154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011680"/>
            <a:ext cx="469087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weight in the network is initialised to the value 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50592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12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=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01568"/>
            <a:ext cx="5074920" cy="1417320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" y="3273552"/>
            <a:ext cx="3003804" cy="274320"/>
          </a:xfrm>
          <a:prstGeom prst="roundRect">
            <a:avLst>
              <a:gd name="adj" fmla="val 40000"/>
            </a:avLst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088" y="3310128"/>
            <a:ext cx="2912364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— 3×3 WEIGHT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712464"/>
            <a:ext cx="4782312" cy="76431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⎡  0    0    0  ⎤</a:t>
            </a:r>
          </a:p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⎢  0    0    0  ⎥</a:t>
            </a:r>
          </a:p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⎣  0    0    0  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8348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73152" cy="1280160"/>
          </a:xfrm>
          <a:prstGeom prst="rect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6" y="5093208"/>
            <a:ext cx="4690872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  Symmetry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5561511"/>
            <a:ext cx="469087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to implement — but identical hidden-layer weights make every neuron compute the same thing, so they can never differentiate.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1417320"/>
            <a:ext cx="5870448" cy="4937760"/>
          </a:xfrm>
          <a:prstGeom prst="roundRect">
            <a:avLst>
              <a:gd name="adj" fmla="val 3000"/>
            </a:avLst>
          </a:prstGeom>
          <a:solidFill>
            <a:srgbClr val="FDF4F5"/>
          </a:solidFill>
          <a:ln w="15875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80176" y="1289304"/>
            <a:ext cx="4828032" cy="274320"/>
          </a:xfrm>
          <a:prstGeom prst="roundRect">
            <a:avLst>
              <a:gd name="adj" fmla="val 40000"/>
            </a:avLst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53328" y="1325880"/>
            <a:ext cx="4736592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INITIALIZATION NETWORK — EVERY WEIGHT = 0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779361" y="2863443"/>
            <a:ext cx="2008023" cy="356616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79361" y="3220059"/>
            <a:ext cx="2008023" cy="356616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79361" y="3220059"/>
            <a:ext cx="2008023" cy="1069848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79361" y="3220059"/>
            <a:ext cx="2008023" cy="1783080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779361" y="2863443"/>
            <a:ext cx="2008023" cy="1069848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779361" y="3576675"/>
            <a:ext cx="2008023" cy="356616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79361" y="3933291"/>
            <a:ext cx="2008023" cy="356616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79361" y="3933291"/>
            <a:ext cx="2008023" cy="1069848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779361" y="2863443"/>
            <a:ext cx="2008023" cy="1783080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779361" y="3576675"/>
            <a:ext cx="2008023" cy="1069848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779361" y="4289907"/>
            <a:ext cx="2008023" cy="356616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79361" y="4646523"/>
            <a:ext cx="2008023" cy="356616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87384" y="2863443"/>
            <a:ext cx="2008022" cy="713232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87384" y="2863443"/>
            <a:ext cx="2008022" cy="1426464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787384" y="3576675"/>
            <a:ext cx="2008022" cy="0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87384" y="3576675"/>
            <a:ext cx="2008022" cy="713232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87384" y="3576675"/>
            <a:ext cx="2008022" cy="713232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87384" y="4289907"/>
            <a:ext cx="2008022" cy="0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787384" y="3576675"/>
            <a:ext cx="2008022" cy="1426464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787384" y="4289907"/>
            <a:ext cx="2008022" cy="713232"/>
          </a:xfrm>
          <a:prstGeom prst="line">
            <a:avLst/>
          </a:prstGeom>
          <a:ln w="1270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527340" y="2922879"/>
            <a:ext cx="51206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27340" y="3279495"/>
            <a:ext cx="51206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27340" y="3279495"/>
            <a:ext cx="51206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27340" y="3636111"/>
            <a:ext cx="51206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w=0</a:t>
            </a:r>
          </a:p>
        </p:txBody>
      </p:sp>
      <p:sp>
        <p:nvSpPr>
          <p:cNvPr id="51" name="Oval 50"/>
          <p:cNvSpPr/>
          <p:nvPr/>
        </p:nvSpPr>
        <p:spPr>
          <a:xfrm>
            <a:off x="6578193" y="3018891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2" name="Oval 51"/>
          <p:cNvSpPr/>
          <p:nvPr/>
        </p:nvSpPr>
        <p:spPr>
          <a:xfrm>
            <a:off x="6578193" y="3732123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3" name="Oval 52"/>
          <p:cNvSpPr/>
          <p:nvPr/>
        </p:nvSpPr>
        <p:spPr>
          <a:xfrm>
            <a:off x="6578193" y="4445355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4" name="Oval 53"/>
          <p:cNvSpPr/>
          <p:nvPr/>
        </p:nvSpPr>
        <p:spPr>
          <a:xfrm>
            <a:off x="8586215" y="2662275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5" name="Oval 54"/>
          <p:cNvSpPr/>
          <p:nvPr/>
        </p:nvSpPr>
        <p:spPr>
          <a:xfrm>
            <a:off x="8586215" y="3375507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6" name="Oval 55"/>
          <p:cNvSpPr/>
          <p:nvPr/>
        </p:nvSpPr>
        <p:spPr>
          <a:xfrm>
            <a:off x="8586215" y="4088739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Oval 56"/>
          <p:cNvSpPr/>
          <p:nvPr/>
        </p:nvSpPr>
        <p:spPr>
          <a:xfrm>
            <a:off x="8586215" y="4801971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Oval 57"/>
          <p:cNvSpPr/>
          <p:nvPr/>
        </p:nvSpPr>
        <p:spPr>
          <a:xfrm>
            <a:off x="10594238" y="3375507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Oval 58"/>
          <p:cNvSpPr/>
          <p:nvPr/>
        </p:nvSpPr>
        <p:spPr>
          <a:xfrm>
            <a:off x="10594238" y="4088739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10681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18704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26726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72784" y="5824728"/>
            <a:ext cx="5029200" cy="347472"/>
          </a:xfrm>
          <a:prstGeom prst="roundRect">
            <a:avLst>
              <a:gd name="adj" fmla="val 30000"/>
            </a:avLst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connections carry the same value  →  symmetry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Initialization —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identical weights to symmetric updates and poor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4937760" cy="4983480"/>
          </a:xfrm>
          <a:prstGeom prst="roundRect">
            <a:avLst>
              <a:gd name="adj" fmla="val 3000"/>
            </a:avLst>
          </a:prstGeom>
          <a:solidFill>
            <a:srgbClr val="FDF7F8"/>
          </a:solidFill>
          <a:ln w="15875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" y="1243584"/>
            <a:ext cx="3195828" cy="274320"/>
          </a:xfrm>
          <a:prstGeom prst="roundRect">
            <a:avLst>
              <a:gd name="adj" fmla="val 40000"/>
            </a:avLst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1280160"/>
            <a:ext cx="3104388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INITIALIZATION FLOWCHART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1700784"/>
            <a:ext cx="4005072" cy="424053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880360" y="2129409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69264" y="2271141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3A4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All Weights = 0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880360" y="2699766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69264" y="2841498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564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Propagation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880360" y="3270123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9264" y="3411855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714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Loss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880360" y="3840480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69264" y="3982212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8D4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880360" y="4410837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9264" y="4552569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A84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Identical / Symmetric Updates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880360" y="4981194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69264" y="5122926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C4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Neurons Learn Similar Features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880360" y="5551551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9264" y="5693283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417320"/>
            <a:ext cx="5943600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AT EACH STAGE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783080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60720" y="1828800"/>
            <a:ext cx="73152" cy="731520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80176" y="1892807"/>
            <a:ext cx="555955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=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0176" y="2352947"/>
            <a:ext cx="5559552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connection carries the same value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2715768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760720" y="2761487"/>
            <a:ext cx="73152" cy="731520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80176" y="2825496"/>
            <a:ext cx="555955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0176" y="3285635"/>
            <a:ext cx="5559552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hidden neurons output identical activations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3648456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760720" y="3694176"/>
            <a:ext cx="73152" cy="731520"/>
          </a:xfrm>
          <a:prstGeom prst="rect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80176" y="3758184"/>
            <a:ext cx="555955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0176" y="4218323"/>
            <a:ext cx="5559552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neurons receive an identical gradient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4581144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760720" y="4626864"/>
            <a:ext cx="73152" cy="731520"/>
          </a:xfrm>
          <a:prstGeom prst="rect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80176" y="4690872"/>
            <a:ext cx="555955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0176" y="5151011"/>
            <a:ext cx="5559552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remain equal to each other forever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5513832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760720" y="5559552"/>
            <a:ext cx="73152" cy="731520"/>
          </a:xfrm>
          <a:prstGeom prst="rect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980176" y="5623560"/>
            <a:ext cx="555955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0176" y="6083699"/>
            <a:ext cx="5559552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behaves like one neuron → poor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Zero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its simplicity genuinely helps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3566160" cy="138988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22376" y="1627632"/>
            <a:ext cx="530352" cy="530352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" y="1712488"/>
            <a:ext cx="530352" cy="26161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609344"/>
            <a:ext cx="251460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975104"/>
            <a:ext cx="251460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randomness, no extra hyper-parameters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371600"/>
            <a:ext cx="3566160" cy="138988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507992" y="1627632"/>
            <a:ext cx="530352" cy="530352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7992" y="1712488"/>
            <a:ext cx="530352" cy="26161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1609344"/>
            <a:ext cx="251460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1975104"/>
            <a:ext cx="251460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line:  W = np.zeros(shape)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1371600"/>
            <a:ext cx="3566160" cy="138988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293608" y="1627632"/>
            <a:ext cx="530352" cy="530352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93608" y="1712488"/>
            <a:ext cx="530352" cy="26161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1609344"/>
            <a:ext cx="251460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2A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1975104"/>
            <a:ext cx="251460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for teaching the concept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944368"/>
            <a:ext cx="3566160" cy="138988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E0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22376" y="3200400"/>
            <a:ext cx="530352" cy="530352"/>
          </a:xfrm>
          <a:prstGeom prst="ellipse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2376" y="3285256"/>
            <a:ext cx="530352" cy="26161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182111"/>
            <a:ext cx="251460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07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Complexity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547872"/>
            <a:ext cx="251460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distribution or scale to tune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2944368"/>
            <a:ext cx="3566160" cy="138988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0FB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507992" y="3200400"/>
            <a:ext cx="530352" cy="530352"/>
          </a:xfrm>
          <a:prstGeom prst="ellipse">
            <a:avLst/>
          </a:prstGeom>
          <a:solidFill>
            <a:srgbClr val="0FB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07992" y="3285256"/>
            <a:ext cx="530352" cy="26161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2936" y="3182111"/>
            <a:ext cx="251460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B5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3547872"/>
            <a:ext cx="251460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— identical every run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74152" y="2944368"/>
            <a:ext cx="3566160" cy="138988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293608" y="3200400"/>
            <a:ext cx="530352" cy="530352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93608" y="3285256"/>
            <a:ext cx="530352" cy="26161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3182111"/>
            <a:ext cx="251460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 for Simple Cases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2" y="3547872"/>
            <a:ext cx="251460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Single-neuron / linear models still train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645152"/>
            <a:ext cx="11219688" cy="157276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02920" y="4690872"/>
            <a:ext cx="73152" cy="1481328"/>
          </a:xfrm>
          <a:prstGeom prst="rect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376" y="4754880"/>
            <a:ext cx="10835640" cy="2308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  Important 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255840"/>
            <a:ext cx="10835640" cy="46423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initialization is perfectly acceptable — and standard — for BIASES (b = 0).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zero for all HIDDEN-LAYER WEIGHTS, however, is generally problematic: it prevents symmetry breaking, so the network cannot learn distinct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Zero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symmetry problem and its consequences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73152" cy="914400"/>
          </a:xfrm>
          <a:prstGeom prst="rect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" y="1527048"/>
            <a:ext cx="4462272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Symmetry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003515"/>
            <a:ext cx="446227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neurons start with identical weights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32888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2578608"/>
            <a:ext cx="73152" cy="914400"/>
          </a:xfrm>
          <a:prstGeom prst="rect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376" y="2642616"/>
            <a:ext cx="4462272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 dirty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Identical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119083"/>
            <a:ext cx="446227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neuron receives the same gradient update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48456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694176"/>
            <a:ext cx="73152" cy="914400"/>
          </a:xfrm>
          <a:prstGeom prst="rect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376" y="3758184"/>
            <a:ext cx="4462272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7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Poor Feature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234651"/>
            <a:ext cx="446227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Neurons cannot specialise on different patterns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64024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4809744"/>
            <a:ext cx="73152" cy="914400"/>
          </a:xfrm>
          <a:prstGeom prst="rect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2376" y="4873752"/>
            <a:ext cx="4462272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7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Poor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350219"/>
            <a:ext cx="446227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fails to learn useful representations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1417320"/>
            <a:ext cx="6099048" cy="3703320"/>
          </a:xfrm>
          <a:prstGeom prst="roundRect">
            <a:avLst>
              <a:gd name="adj" fmla="val 3000"/>
            </a:avLst>
          </a:prstGeom>
          <a:solidFill>
            <a:srgbClr val="FDF7F8"/>
          </a:solidFill>
          <a:ln w="15875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51576" y="1289304"/>
            <a:ext cx="1947672" cy="274320"/>
          </a:xfrm>
          <a:prstGeom prst="roundRect">
            <a:avLst>
              <a:gd name="adj" fmla="val 40000"/>
            </a:avLst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24728" y="1325880"/>
            <a:ext cx="1856231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SYMMETRY PROBLEM</a:t>
            </a:r>
          </a:p>
        </p:txBody>
      </p:sp>
      <p:sp>
        <p:nvSpPr>
          <p:cNvPr id="30" name="Oval 29"/>
          <p:cNvSpPr/>
          <p:nvPr/>
        </p:nvSpPr>
        <p:spPr>
          <a:xfrm>
            <a:off x="5998464" y="2980944"/>
            <a:ext cx="457200" cy="45720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1" name="Oval 30"/>
          <p:cNvSpPr/>
          <p:nvPr/>
        </p:nvSpPr>
        <p:spPr>
          <a:xfrm>
            <a:off x="7598664" y="1975104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w=0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455664" y="2331720"/>
            <a:ext cx="1143000" cy="877824"/>
          </a:xfrm>
          <a:prstGeom prst="line">
            <a:avLst/>
          </a:prstGeom>
          <a:ln w="1651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11896" y="2331720"/>
            <a:ext cx="1435608" cy="877824"/>
          </a:xfrm>
          <a:prstGeom prst="line">
            <a:avLst/>
          </a:prstGeom>
          <a:ln w="1651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13064" y="2556662"/>
            <a:ext cx="914400" cy="13080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Δw</a:t>
            </a:r>
          </a:p>
        </p:txBody>
      </p:sp>
      <p:sp>
        <p:nvSpPr>
          <p:cNvPr id="35" name="Oval 34"/>
          <p:cNvSpPr/>
          <p:nvPr/>
        </p:nvSpPr>
        <p:spPr>
          <a:xfrm>
            <a:off x="7598664" y="2980944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55664" y="3209544"/>
            <a:ext cx="1143000" cy="128016"/>
          </a:xfrm>
          <a:prstGeom prst="line">
            <a:avLst/>
          </a:prstGeom>
          <a:ln w="1651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311896" y="3209544"/>
            <a:ext cx="1435608" cy="128016"/>
          </a:xfrm>
          <a:prstGeom prst="line">
            <a:avLst/>
          </a:prstGeom>
          <a:ln w="1651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13064" y="3210458"/>
            <a:ext cx="914400" cy="13080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Δw</a:t>
            </a:r>
          </a:p>
        </p:txBody>
      </p:sp>
      <p:sp>
        <p:nvSpPr>
          <p:cNvPr id="39" name="Oval 38"/>
          <p:cNvSpPr/>
          <p:nvPr/>
        </p:nvSpPr>
        <p:spPr>
          <a:xfrm>
            <a:off x="7598664" y="3986783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w=0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55664" y="3209544"/>
            <a:ext cx="1143000" cy="1133855"/>
          </a:xfrm>
          <a:prstGeom prst="line">
            <a:avLst/>
          </a:prstGeom>
          <a:ln w="16510">
            <a:solidFill>
              <a:srgbClr val="C7D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311896" y="3209544"/>
            <a:ext cx="1435608" cy="1133855"/>
          </a:xfrm>
          <a:prstGeom prst="line">
            <a:avLst/>
          </a:prstGeom>
          <a:ln w="16510">
            <a:solidFill>
              <a:srgbClr val="F2B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13064" y="3864254"/>
            <a:ext cx="914400" cy="13080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Δw</a:t>
            </a:r>
          </a:p>
        </p:txBody>
      </p:sp>
      <p:sp>
        <p:nvSpPr>
          <p:cNvPr id="43" name="Oval 42"/>
          <p:cNvSpPr/>
          <p:nvPr/>
        </p:nvSpPr>
        <p:spPr>
          <a:xfrm>
            <a:off x="9747504" y="2980944"/>
            <a:ext cx="457200" cy="45720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79024" y="1819656"/>
            <a:ext cx="1188720" cy="566928"/>
          </a:xfrm>
          <a:prstGeom prst="roundRect">
            <a:avLst>
              <a:gd name="adj" fmla="val 18000"/>
            </a:avLst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Weights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10981944" y="2395728"/>
            <a:ext cx="182880" cy="201168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0479024" y="2624328"/>
            <a:ext cx="1188720" cy="566928"/>
          </a:xfrm>
          <a:prstGeom prst="roundRect">
            <a:avLst>
              <a:gd name="adj" fmla="val 18000"/>
            </a:avLst>
          </a:prstGeom>
          <a:solidFill>
            <a:srgbClr val="5F4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Symmetry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10981944" y="3200400"/>
            <a:ext cx="182880" cy="201168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479024" y="3429000"/>
            <a:ext cx="1188720" cy="566928"/>
          </a:xfrm>
          <a:prstGeom prst="roundRect">
            <a:avLst>
              <a:gd name="adj" fmla="val 18000"/>
            </a:avLst>
          </a:prstGeom>
          <a:solidFill>
            <a:srgbClr val="9F4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Updates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10981944" y="4005072"/>
            <a:ext cx="182880" cy="201168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0479024" y="4233672"/>
            <a:ext cx="1188720" cy="566928"/>
          </a:xfrm>
          <a:prstGeom prst="roundRect">
            <a:avLst>
              <a:gd name="adj" fmla="val 18000"/>
            </a:avLst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Learning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23560" y="5285232"/>
            <a:ext cx="6099048" cy="685800"/>
          </a:xfrm>
          <a:prstGeom prst="roundRect">
            <a:avLst>
              <a:gd name="adj" fmla="val 14000"/>
            </a:avLst>
          </a:prstGeom>
          <a:solidFill>
            <a:srgbClr val="12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Weights → Symmetry → Same Updates → Poor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random values break the symmetry between neurons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074920" cy="1005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1463040"/>
            <a:ext cx="73152" cy="914400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" y="1527048"/>
            <a:ext cx="4690872" cy="2154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011680"/>
            <a:ext cx="4690872" cy="3847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weight is drawn independently from a small random distribution, e.g. W ~ U(−ε, ε) or N(0, σ²).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5074920" cy="1280160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6" y="2478024"/>
            <a:ext cx="3003804" cy="274320"/>
          </a:xfrm>
          <a:prstGeom prst="roundRect">
            <a:avLst>
              <a:gd name="adj" fmla="val 4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4088" y="2514600"/>
            <a:ext cx="2912364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— 2×3 WEIGHT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971800"/>
            <a:ext cx="4782312" cy="48731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⎡   0.12   −0.08    0.21 ⎤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⎣ −0.15    0.07    0.18 ⎦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119372"/>
            <a:ext cx="182880" cy="182880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" y="4069080"/>
            <a:ext cx="484632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weights → different activations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31436"/>
            <a:ext cx="182880" cy="182880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9536" y="4581144"/>
            <a:ext cx="484632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gradients → different updates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43500"/>
            <a:ext cx="182880" cy="182880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9536" y="5093208"/>
            <a:ext cx="484632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neuron learns a distinct feature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23560"/>
            <a:ext cx="5074920" cy="7315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5669280"/>
            <a:ext cx="73152" cy="640080"/>
          </a:xfrm>
          <a:prstGeom prst="rect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2376" y="5733288"/>
            <a:ext cx="4690872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2A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6193427"/>
            <a:ext cx="469087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Symmetry is broken from the very first forward pass.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1417320"/>
            <a:ext cx="5870448" cy="4937760"/>
          </a:xfrm>
          <a:prstGeom prst="roundRect">
            <a:avLst>
              <a:gd name="adj" fmla="val 3000"/>
            </a:avLst>
          </a:prstGeom>
          <a:solidFill>
            <a:srgbClr val="F8F5FF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80176" y="1289304"/>
            <a:ext cx="5116068" cy="274320"/>
          </a:xfrm>
          <a:prstGeom prst="roundRect">
            <a:avLst>
              <a:gd name="adj" fmla="val 4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53328" y="1325880"/>
            <a:ext cx="5024627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INITIALIZATION NETWORK — DIFFERENT WEIGHTS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779361" y="2863443"/>
            <a:ext cx="2008023" cy="356616"/>
          </a:xfrm>
          <a:prstGeom prst="line">
            <a:avLst/>
          </a:prstGeom>
          <a:ln w="1016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79361" y="3220059"/>
            <a:ext cx="2008023" cy="356616"/>
          </a:xfrm>
          <a:prstGeom prst="line">
            <a:avLst/>
          </a:prstGeom>
          <a:ln w="1651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79361" y="3220059"/>
            <a:ext cx="2008023" cy="1069848"/>
          </a:xfrm>
          <a:prstGeom prst="line">
            <a:avLst/>
          </a:prstGeom>
          <a:ln w="2286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79361" y="3220059"/>
            <a:ext cx="2008023" cy="1783080"/>
          </a:xfrm>
          <a:prstGeom prst="line">
            <a:avLst/>
          </a:prstGeom>
          <a:ln w="1016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779361" y="2863443"/>
            <a:ext cx="2008023" cy="1069848"/>
          </a:xfrm>
          <a:prstGeom prst="line">
            <a:avLst/>
          </a:prstGeom>
          <a:ln w="1016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779361" y="3576675"/>
            <a:ext cx="2008023" cy="356616"/>
          </a:xfrm>
          <a:prstGeom prst="line">
            <a:avLst/>
          </a:prstGeom>
          <a:ln w="1651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79361" y="3933291"/>
            <a:ext cx="2008023" cy="356616"/>
          </a:xfrm>
          <a:prstGeom prst="line">
            <a:avLst/>
          </a:prstGeom>
          <a:ln w="2286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79361" y="3933291"/>
            <a:ext cx="2008023" cy="1069848"/>
          </a:xfrm>
          <a:prstGeom prst="line">
            <a:avLst/>
          </a:prstGeom>
          <a:ln w="1016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779361" y="2863443"/>
            <a:ext cx="2008023" cy="1783080"/>
          </a:xfrm>
          <a:prstGeom prst="line">
            <a:avLst/>
          </a:prstGeom>
          <a:ln w="1016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779361" y="3576675"/>
            <a:ext cx="2008023" cy="1069848"/>
          </a:xfrm>
          <a:prstGeom prst="line">
            <a:avLst/>
          </a:prstGeom>
          <a:ln w="1651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779361" y="4289907"/>
            <a:ext cx="2008023" cy="356616"/>
          </a:xfrm>
          <a:prstGeom prst="line">
            <a:avLst/>
          </a:prstGeom>
          <a:ln w="2286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79361" y="4646523"/>
            <a:ext cx="2008023" cy="356616"/>
          </a:xfrm>
          <a:prstGeom prst="line">
            <a:avLst/>
          </a:prstGeom>
          <a:ln w="1016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87384" y="2863443"/>
            <a:ext cx="2008022" cy="713232"/>
          </a:xfrm>
          <a:prstGeom prst="line">
            <a:avLst/>
          </a:prstGeom>
          <a:ln w="1016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87384" y="2863443"/>
            <a:ext cx="2008022" cy="1426464"/>
          </a:xfrm>
          <a:prstGeom prst="line">
            <a:avLst/>
          </a:prstGeom>
          <a:ln w="1651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787384" y="3576675"/>
            <a:ext cx="2008022" cy="0"/>
          </a:xfrm>
          <a:prstGeom prst="line">
            <a:avLst/>
          </a:prstGeom>
          <a:ln w="1016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787384" y="3576675"/>
            <a:ext cx="2008022" cy="713232"/>
          </a:xfrm>
          <a:prstGeom prst="line">
            <a:avLst/>
          </a:prstGeom>
          <a:ln w="1651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787384" y="3576675"/>
            <a:ext cx="2008022" cy="713232"/>
          </a:xfrm>
          <a:prstGeom prst="line">
            <a:avLst/>
          </a:prstGeom>
          <a:ln w="1016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787384" y="4289907"/>
            <a:ext cx="2008022" cy="0"/>
          </a:xfrm>
          <a:prstGeom prst="line">
            <a:avLst/>
          </a:prstGeom>
          <a:ln w="1651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787384" y="3576675"/>
            <a:ext cx="2008022" cy="1426464"/>
          </a:xfrm>
          <a:prstGeom prst="line">
            <a:avLst/>
          </a:prstGeom>
          <a:ln w="10160">
            <a:solidFill>
              <a:srgbClr val="7B2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87384" y="4289907"/>
            <a:ext cx="2008022" cy="713232"/>
          </a:xfrm>
          <a:prstGeom prst="line">
            <a:avLst/>
          </a:prstGeom>
          <a:ln w="16510">
            <a:solidFill>
              <a:srgbClr val="1F4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527340" y="2922879"/>
            <a:ext cx="51206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27340" y="3279495"/>
            <a:ext cx="51206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-0.08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27340" y="3279495"/>
            <a:ext cx="51206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27340" y="3636111"/>
            <a:ext cx="51206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0.05</a:t>
            </a:r>
          </a:p>
        </p:txBody>
      </p:sp>
      <p:sp>
        <p:nvSpPr>
          <p:cNvPr id="56" name="Oval 55"/>
          <p:cNvSpPr/>
          <p:nvPr/>
        </p:nvSpPr>
        <p:spPr>
          <a:xfrm>
            <a:off x="6578193" y="3018891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6578193" y="3732123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578193" y="4445355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8586215" y="2662275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8586215" y="3375507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8586215" y="4088739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8586215" y="4801971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0594238" y="3375507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B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10594238" y="4088739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B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10681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18704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26726" y="1673352"/>
            <a:ext cx="173736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72784" y="5824728"/>
            <a:ext cx="5029200" cy="347472"/>
          </a:xfrm>
          <a:prstGeom prst="roundRect">
            <a:avLst>
              <a:gd name="adj" fmla="val 3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weights: 0.12, −0.08, 0.21, 0.05, −0.14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Segoe UI"/>
              </a:rPr>
              <a:t>Random Initialization —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3200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Segoe UI"/>
              </a:rPr>
              <a:t>Distinct weights lead to distinct features and efficient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Segoe UI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Segoe UI"/>
              </a:rPr>
              <a:t>Pratham Pimpalikar | CM23031  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4937760" cy="4983480"/>
          </a:xfrm>
          <a:prstGeom prst="roundRect">
            <a:avLst>
              <a:gd name="adj" fmla="val 3000"/>
            </a:avLst>
          </a:prstGeom>
          <a:solidFill>
            <a:srgbClr val="F5FDF9"/>
          </a:solidFill>
          <a:ln w="15875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" y="1243584"/>
            <a:ext cx="3387852" cy="274320"/>
          </a:xfrm>
          <a:prstGeom prst="roundRect">
            <a:avLst>
              <a:gd name="adj" fmla="val 40000"/>
            </a:avLst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280160"/>
            <a:ext cx="3296412" cy="21945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RANDOM INITIALIZATION FLOWCHART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1700784"/>
            <a:ext cx="4005072" cy="424053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START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880360" y="2129409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9264" y="2271141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1D5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Generate Random Weights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880360" y="2699766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9264" y="2841498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1B6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Forward Propagation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880360" y="3270123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9264" y="3411855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197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Calculate Loss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880360" y="3840480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9264" y="3982212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177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Backpropagation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880360" y="4410837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9264" y="4552569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158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Different Weight Updates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880360" y="4981194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9264" y="5122926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139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Neurons Learn Different Features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880360" y="5551551"/>
            <a:ext cx="182880" cy="137160"/>
          </a:xfrm>
          <a:prstGeom prst="downArrow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9264" y="5693283"/>
            <a:ext cx="4005072" cy="424053"/>
          </a:xfrm>
          <a:prstGeom prst="roundRect">
            <a:avLst>
              <a:gd name="adj" fmla="val 22000"/>
            </a:avLst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Efficient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417320"/>
            <a:ext cx="5943600" cy="3200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7B2FF7"/>
                </a:solidFill>
                <a:latin typeface="Segoe UI"/>
              </a:rPr>
              <a:t>WHAT HAPPENS AT EACH STAGE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783080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0" y="1828800"/>
            <a:ext cx="73152" cy="731520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0176" y="1892807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F4EE0"/>
                </a:solidFill>
                <a:latin typeface="Segoe UI"/>
              </a:rPr>
              <a:t>Random weights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0176" y="2352947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Segoe UI"/>
              </a:rPr>
              <a:t>W ~ N(0, σ²) — every edge is different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2715768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60720" y="2761487"/>
            <a:ext cx="73152" cy="731520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0176" y="2825496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F4EE0"/>
                </a:solidFill>
                <a:latin typeface="Segoe UI"/>
              </a:rPr>
              <a:t>Forward 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0176" y="3285635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Segoe UI"/>
              </a:rPr>
              <a:t>Hidden neurons produce different activations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3648456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760720" y="3694176"/>
            <a:ext cx="73152" cy="731520"/>
          </a:xfrm>
          <a:prstGeom prst="rect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0176" y="3758184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2A46B"/>
                </a:solidFill>
                <a:latin typeface="Segoe UI"/>
              </a:rPr>
              <a:t>Backward 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0176" y="4218323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Segoe UI"/>
              </a:rPr>
              <a:t>Each neuron gets its own gradient signal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4581144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60720" y="4626864"/>
            <a:ext cx="73152" cy="731520"/>
          </a:xfrm>
          <a:prstGeom prst="rect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80176" y="4690872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2A46B"/>
                </a:solidFill>
                <a:latin typeface="Segoe UI"/>
              </a:rPr>
              <a:t>Update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0176" y="5151011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Segoe UI"/>
              </a:rPr>
              <a:t>Weights diverge and specialise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5513832"/>
            <a:ext cx="5943600" cy="822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60720" y="5559552"/>
            <a:ext cx="73152" cy="731520"/>
          </a:xfrm>
          <a:prstGeom prst="rect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80176" y="5623560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2A46B"/>
                </a:solidFill>
                <a:latin typeface="Segoe UI"/>
              </a:rPr>
              <a:t>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0176" y="6083699"/>
            <a:ext cx="5559552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Segoe UI"/>
              </a:rPr>
              <a:t>Rich feature hierarchy → efficient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Random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is the practical default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3566160" cy="129844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04088" y="1591056"/>
            <a:ext cx="502920" cy="502920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1671523"/>
            <a:ext cx="502920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572768"/>
            <a:ext cx="2560320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2A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Breaks Symmetry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920240"/>
            <a:ext cx="256032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Neurons are no longer identical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371600"/>
            <a:ext cx="3566160" cy="129844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489703" y="1591056"/>
            <a:ext cx="502920" cy="502920"/>
          </a:xfrm>
          <a:prstGeom prst="ellipse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9703" y="1671523"/>
            <a:ext cx="502920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1572768"/>
            <a:ext cx="2560320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1920240"/>
            <a:ext cx="256032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unit learns something different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1371600"/>
            <a:ext cx="3566160" cy="129844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275320" y="1591056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75320" y="1671523"/>
            <a:ext cx="502920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1572768"/>
            <a:ext cx="2560320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920240"/>
            <a:ext cx="256032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Richer hidden representations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834640"/>
            <a:ext cx="3566160" cy="129844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04088" y="3054096"/>
            <a:ext cx="502920" cy="502920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088" y="3134563"/>
            <a:ext cx="502920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35808"/>
            <a:ext cx="2560320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2A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383280"/>
            <a:ext cx="256032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decreases steadily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2834640"/>
            <a:ext cx="3566160" cy="129844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0FB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489703" y="3054096"/>
            <a:ext cx="502920" cy="502920"/>
          </a:xfrm>
          <a:prstGeom prst="ellipse">
            <a:avLst/>
          </a:prstGeom>
          <a:solidFill>
            <a:srgbClr val="0FB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89703" y="3134563"/>
            <a:ext cx="502920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3035808"/>
            <a:ext cx="2560320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B5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Starting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216" y="3383280"/>
            <a:ext cx="256032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Well-conditioned optimisation start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74152" y="2834640"/>
            <a:ext cx="3566160" cy="1298448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275320" y="3054096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75320" y="3134563"/>
            <a:ext cx="502920" cy="24622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2832" y="3035808"/>
            <a:ext cx="2560320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Suits Deep Nets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2832" y="3383280"/>
            <a:ext cx="2560320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practice in modern DL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407408"/>
            <a:ext cx="11219688" cy="1923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SCALED VARIANTS OF RANDOM INITIALIZATION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864608"/>
            <a:ext cx="5486400" cy="1371600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30936" y="4736592"/>
            <a:ext cx="1851660" cy="274320"/>
          </a:xfrm>
          <a:prstGeom prst="roundRect">
            <a:avLst>
              <a:gd name="adj" fmla="val 40000"/>
            </a:avLst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4088" y="4773168"/>
            <a:ext cx="1760219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XAVIER / GLOROT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" y="5157216"/>
            <a:ext cx="5193792" cy="2154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Var(W) = 2 / (n_in + n_out)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" y="5577840"/>
            <a:ext cx="519379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Suited to sigmoid / tanh activations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36208" y="4864608"/>
            <a:ext cx="5486400" cy="1371600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364224" y="4736592"/>
            <a:ext cx="2043684" cy="274320"/>
          </a:xfrm>
          <a:prstGeom prst="roundRect">
            <a:avLst>
              <a:gd name="adj" fmla="val 4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37376" y="4773168"/>
            <a:ext cx="1952243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INITIALIZATION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5157216"/>
            <a:ext cx="5193792" cy="2154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Var(W) = 2 / n_in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5577840"/>
            <a:ext cx="5193792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Suited to ReLU and its variants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Random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matters — the distribution must be chosen carefully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11219688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73152" cy="868680"/>
          </a:xfrm>
          <a:prstGeom prst="rect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" y="1481328"/>
            <a:ext cx="1083564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  —  Weights Too Large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1957795"/>
            <a:ext cx="10835640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Activations grow layer after layer → EXPLODING GRADIENTS, unstable loss, NaN 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32304"/>
            <a:ext cx="11219688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0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2478024"/>
            <a:ext cx="73152" cy="868680"/>
          </a:xfrm>
          <a:prstGeom prst="rect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376" y="2542032"/>
            <a:ext cx="1083564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7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2  —  Weights Too Small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018499"/>
            <a:ext cx="10835640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shrink layer after layer → VANISHING GRADIENTS, early layers stop learning.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93008"/>
            <a:ext cx="11219688" cy="9601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538727"/>
            <a:ext cx="73152" cy="868680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376" y="3602736"/>
            <a:ext cx="1083564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3  —  Choice of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079203"/>
            <a:ext cx="10835640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vs Normal, and the variance, must match network depth and activation.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81728"/>
            <a:ext cx="11219688" cy="1627632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936" y="4553712"/>
            <a:ext cx="3003804" cy="274320"/>
          </a:xfrm>
          <a:prstGeom prst="roundRect">
            <a:avLst>
              <a:gd name="adj" fmla="val 4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4088" y="4590288"/>
            <a:ext cx="2912364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FLOW ACROSS LAYERS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" y="4937759"/>
            <a:ext cx="3520439" cy="1197864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E0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2376" y="4992624"/>
            <a:ext cx="3374135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E07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Too Small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7824" y="5696712"/>
            <a:ext cx="3063239" cy="0"/>
          </a:xfrm>
          <a:prstGeom prst="line">
            <a:avLst/>
          </a:prstGeom>
          <a:ln w="15240">
            <a:solidFill>
              <a:srgbClr val="C7D2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00100" y="5527548"/>
            <a:ext cx="338328" cy="338328"/>
          </a:xfrm>
          <a:prstGeom prst="ellipse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588998" y="5607786"/>
            <a:ext cx="177850" cy="177850"/>
          </a:xfrm>
          <a:prstGeom prst="ellipse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2325742" y="5635870"/>
            <a:ext cx="121683" cy="121683"/>
          </a:xfrm>
          <a:prstGeom prst="ellipse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3038551" y="5640019"/>
            <a:ext cx="113385" cy="113385"/>
          </a:xfrm>
          <a:prstGeom prst="ellipse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747211" y="5640019"/>
            <a:ext cx="113385" cy="113385"/>
          </a:xfrm>
          <a:prstGeom prst="ellipse">
            <a:avLst/>
          </a:prstGeom>
          <a:solidFill>
            <a:srgbClr val="E07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2376" y="6035040"/>
            <a:ext cx="3374135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Vanishing Gradient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2544" y="4937759"/>
            <a:ext cx="3520439" cy="1197864"/>
          </a:xfrm>
          <a:prstGeom prst="roundRect">
            <a:avLst>
              <a:gd name="adj" fmla="val 6000"/>
            </a:avLst>
          </a:prstGeom>
          <a:solidFill>
            <a:srgbClr val="ECFBF4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25696" y="4992624"/>
            <a:ext cx="3374135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12A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Scale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81144" y="5696712"/>
            <a:ext cx="3063239" cy="0"/>
          </a:xfrm>
          <a:prstGeom prst="line">
            <a:avLst/>
          </a:prstGeom>
          <a:ln w="15240">
            <a:solidFill>
              <a:srgbClr val="C7D2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510277" y="5534405"/>
            <a:ext cx="324612" cy="324612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218938" y="5534405"/>
            <a:ext cx="324612" cy="324612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927597" y="5534405"/>
            <a:ext cx="324612" cy="324612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636257" y="5534405"/>
            <a:ext cx="324612" cy="324612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344917" y="5534405"/>
            <a:ext cx="324612" cy="324612"/>
          </a:xfrm>
          <a:prstGeom prst="ellipse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25696" y="6035040"/>
            <a:ext cx="3374135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Gradient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55864" y="4937759"/>
            <a:ext cx="3520439" cy="1197864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 w="12700">
            <a:solidFill>
              <a:srgbClr val="E03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129016" y="4992624"/>
            <a:ext cx="3374135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E03B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Too Large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84464" y="5696712"/>
            <a:ext cx="3063240" cy="0"/>
          </a:xfrm>
          <a:prstGeom prst="line">
            <a:avLst/>
          </a:prstGeom>
          <a:ln w="15240">
            <a:solidFill>
              <a:srgbClr val="C7D2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302752" y="5623559"/>
            <a:ext cx="146304" cy="146304"/>
          </a:xfrm>
          <a:prstGeom prst="ellipse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8983980" y="5596127"/>
            <a:ext cx="201168" cy="201168"/>
          </a:xfrm>
          <a:prstGeom prst="ellipse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9637776" y="5541264"/>
            <a:ext cx="310896" cy="310896"/>
          </a:xfrm>
          <a:prstGeom prst="ellipse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0319004" y="5513831"/>
            <a:ext cx="365760" cy="365760"/>
          </a:xfrm>
          <a:prstGeom prst="ellipse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027664" y="5513831"/>
            <a:ext cx="365760" cy="365760"/>
          </a:xfrm>
          <a:prstGeom prst="ellipse">
            <a:avLst/>
          </a:prstGeom>
          <a:solidFill>
            <a:srgbClr val="E0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29016" y="6035040"/>
            <a:ext cx="3374135" cy="1769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5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Exploding Gradient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vs Random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parameter-wise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63040"/>
          <a:ext cx="1127455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128016" marT="18288" marB="18288" anchor="ctr"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Zero Initialization</a:t>
                      </a:r>
                    </a:p>
                  </a:txBody>
                  <a:tcPr marL="128016" marT="18288" marB="18288" anchor="ctr"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Random Initialization</a:t>
                      </a:r>
                    </a:p>
                  </a:txBody>
                  <a:tcPr marL="128016" marT="18288" marB="18288" anchor="ctr">
                    <a:solidFill>
                      <a:srgbClr val="16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04A"/>
                          </a:solidFill>
                          <a:latin typeface="Segoe UI"/>
                        </a:rPr>
                        <a:t>Initial Weights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All weights = 0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A46B"/>
                          </a:solidFill>
                          <a:latin typeface="Segoe UI"/>
                        </a:rPr>
                        <a:t>Small random values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04A"/>
                          </a:solidFill>
                          <a:latin typeface="Segoe UI"/>
                        </a:rPr>
                        <a:t>Symmetry Breaking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✘   No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A46B"/>
                          </a:solidFill>
                          <a:latin typeface="Segoe UI"/>
                        </a:rPr>
                        <a:t>✔   Yes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04A"/>
                          </a:solidFill>
                          <a:latin typeface="Segoe UI"/>
                        </a:rPr>
                        <a:t>Neuron Learning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Similar / identical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A46B"/>
                          </a:solidFill>
                          <a:latin typeface="Segoe UI"/>
                        </a:rPr>
                        <a:t>Different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16204A"/>
                          </a:solidFill>
                          <a:latin typeface="Segoe UI"/>
                        </a:rPr>
                        <a:t>Feature Learning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Very limited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A46B"/>
                          </a:solidFill>
                          <a:latin typeface="Segoe UI"/>
                        </a:rPr>
                        <a:t>More effective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04A"/>
                          </a:solidFill>
                          <a:latin typeface="Segoe UI"/>
                        </a:rPr>
                        <a:t>Convergence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⚠   Generally poor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A46B"/>
                          </a:solidFill>
                          <a:latin typeface="Segoe UI"/>
                        </a:rPr>
                        <a:t>✔   Generally better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04A"/>
                          </a:solidFill>
                          <a:latin typeface="Segoe UI"/>
                        </a:rPr>
                        <a:t>Gradient Behaviour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Can prevent useful learning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A46B"/>
                          </a:solidFill>
                          <a:latin typeface="Segoe UI"/>
                        </a:rPr>
                        <a:t>Depends on scale / distribution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04A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Poor for hidden-layer weights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A46B"/>
                          </a:solidFill>
                          <a:latin typeface="Segoe UI"/>
                        </a:rPr>
                        <a:t>Better starting point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04A"/>
                          </a:solidFill>
                          <a:latin typeface="Segoe UI"/>
                        </a:rPr>
                        <a:t>Scalability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Poor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2A46B"/>
                          </a:solidFill>
                          <a:latin typeface="Segoe UI"/>
                        </a:rPr>
                        <a:t>Better</a:t>
                      </a:r>
                    </a:p>
                  </a:txBody>
                  <a:tcPr marL="128016" marT="18288" marB="18288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04A"/>
                          </a:solidFill>
                          <a:latin typeface="Segoe UI"/>
                        </a:rPr>
                        <a:t>Practical Usage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E03B4E"/>
                          </a:solidFill>
                          <a:latin typeface="Segoe UI"/>
                        </a:rPr>
                        <a:t>✘   Not for hidden weights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12A46B"/>
                          </a:solidFill>
                          <a:latin typeface="Segoe UI"/>
                        </a:rPr>
                        <a:t>✔   Common starting approach</a:t>
                      </a:r>
                    </a:p>
                  </a:txBody>
                  <a:tcPr marL="12801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vs Random initialization — accuracy and loss behaviour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170432"/>
            <a:ext cx="6309360" cy="384048"/>
          </a:xfrm>
          <a:prstGeom prst="roundRect">
            <a:avLst>
              <a:gd name="adj" fmla="val 35000"/>
            </a:avLst>
          </a:prstGeom>
          <a:solidFill>
            <a:srgbClr val="FFF4E5"/>
          </a:solidFill>
          <a:ln w="12700">
            <a:solidFill>
              <a:srgbClr val="E07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07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  Illustrative Results — Not Measured Experimental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64208"/>
            <a:ext cx="5486400" cy="3840480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6" y="1536192"/>
            <a:ext cx="3963924" cy="274320"/>
          </a:xfrm>
          <a:prstGeom prst="roundRect">
            <a:avLst>
              <a:gd name="adj" fmla="val 40000"/>
            </a:avLst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" y="1572768"/>
            <a:ext cx="3872483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1 — TRAINING ACCURACY vs EPOCHS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899088"/>
              </p:ext>
            </p:extLst>
          </p:nvPr>
        </p:nvGraphicFramePr>
        <p:xfrm>
          <a:off x="649224" y="1901952"/>
          <a:ext cx="5193792" cy="3456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17920" y="1664208"/>
            <a:ext cx="5486400" cy="3840480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45936" y="1536192"/>
            <a:ext cx="3579876" cy="274320"/>
          </a:xfrm>
          <a:prstGeom prst="roundRect">
            <a:avLst>
              <a:gd name="adj" fmla="val 4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19088" y="1572768"/>
            <a:ext cx="3488436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2 — TRAINING LOSS vs EPOCHS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749878"/>
              </p:ext>
            </p:extLst>
          </p:nvPr>
        </p:nvGraphicFramePr>
        <p:xfrm>
          <a:off x="6364224" y="1901952"/>
          <a:ext cx="5193792" cy="3456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02920" y="5596128"/>
            <a:ext cx="5486400" cy="74980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2A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5641848"/>
            <a:ext cx="73152" cy="658368"/>
          </a:xfrm>
          <a:prstGeom prst="rect">
            <a:avLst/>
          </a:prstGeom>
          <a:solidFill>
            <a:srgbClr val="12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6" y="5705856"/>
            <a:ext cx="5102352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2A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—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6157830"/>
            <a:ext cx="5102352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init climbs steadily; zero init stays near chance level.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596128"/>
            <a:ext cx="5486400" cy="74980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1F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17920" y="5641848"/>
            <a:ext cx="73152" cy="658368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37376" y="5705856"/>
            <a:ext cx="5102352" cy="18466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F4E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—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6157830"/>
            <a:ext cx="5102352" cy="169277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init loss falls sharply; zero init loss stays flat.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789920" cy="44627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841248"/>
            <a:ext cx="10789920" cy="20774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7B2F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280160" cy="41148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640080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  |  N-PCCCM701T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6547104"/>
            <a:ext cx="4023360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0" i="0">
                <a:solidFill>
                  <a:srgbClr val="5A66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 Pimpalikar | CM23031    15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513332"/>
            <a:ext cx="182880" cy="18288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16" y="1463040"/>
            <a:ext cx="521208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initialization strongly affects neural network training.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098548"/>
            <a:ext cx="182880" cy="18288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3816" y="2048256"/>
            <a:ext cx="521208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initialization creates a symmetry problem for hidden-layer weights.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683764"/>
            <a:ext cx="182880" cy="18288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" y="2633472"/>
            <a:ext cx="521208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 neurons cannot learn different features.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268980"/>
            <a:ext cx="182880" cy="18288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3816" y="3218688"/>
            <a:ext cx="521208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initialization breaks symmetry between neurons.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854196"/>
            <a:ext cx="182880" cy="18288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3816" y="3803904"/>
            <a:ext cx="521208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Properly scaled random init gives a better starting point.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439412"/>
            <a:ext cx="182880" cy="182880"/>
          </a:xfrm>
          <a:prstGeom prst="ellipse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3816" y="4389120"/>
            <a:ext cx="5212080" cy="20005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Xavier and He initialization further improve on plain random init.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417320"/>
            <a:ext cx="5321808" cy="3246120"/>
          </a:xfrm>
          <a:prstGeom prst="roundRect">
            <a:avLst>
              <a:gd name="adj" fmla="val 3000"/>
            </a:avLst>
          </a:prstGeom>
          <a:solidFill>
            <a:srgbClr val="F7F9FF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28816" y="1289304"/>
            <a:ext cx="2235708" cy="274320"/>
          </a:xfrm>
          <a:prstGeom prst="roundRect">
            <a:avLst>
              <a:gd name="adj" fmla="val 40000"/>
            </a:avLst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01968" y="1325880"/>
            <a:ext cx="2144268" cy="16158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AT A GLANCE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47104" y="1709928"/>
          <a:ext cx="5029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109728" anchor="ctr"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Zero</a:t>
                      </a:r>
                    </a:p>
                  </a:txBody>
                  <a:tcPr marL="109728" anchor="ctr">
                    <a:solidFill>
                      <a:srgbClr val="162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Random</a:t>
                      </a:r>
                    </a:p>
                  </a:txBody>
                  <a:tcPr marL="109728" anchor="ctr">
                    <a:solidFill>
                      <a:srgbClr val="162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6204A"/>
                          </a:solidFill>
                          <a:latin typeface="Segoe UI"/>
                        </a:rPr>
                        <a:t>Symmetry broken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03B4E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2A46B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6204A"/>
                          </a:solidFill>
                          <a:latin typeface="Segoe UI"/>
                        </a:rPr>
                        <a:t>Feature diversity</a:t>
                      </a:r>
                    </a:p>
                  </a:txBody>
                  <a:tcPr marL="10972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03B4E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2A46B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6204A"/>
                          </a:solidFill>
                          <a:latin typeface="Segoe UI"/>
                        </a:rPr>
                        <a:t>Convergence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03B4E"/>
                          </a:solidFill>
                          <a:latin typeface="Segoe UI"/>
                        </a:rPr>
                        <a:t>Poor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2A46B"/>
                          </a:solidFill>
                          <a:latin typeface="Segoe UI"/>
                        </a:rPr>
                        <a:t>Good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6204A"/>
                          </a:solidFill>
                          <a:latin typeface="Segoe UI"/>
                        </a:rPr>
                        <a:t>Recommended</a:t>
                      </a:r>
                    </a:p>
                  </a:txBody>
                  <a:tcPr marL="10972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03B4E"/>
                          </a:solidFill>
                          <a:latin typeface="Segoe UI"/>
                        </a:rPr>
                        <a:t>✘</a:t>
                      </a:r>
                    </a:p>
                  </a:txBody>
                  <a:tcPr marL="109728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2A46B"/>
                          </a:solidFill>
                          <a:latin typeface="Segoe UI"/>
                        </a:rPr>
                        <a:t>✔</a:t>
                      </a:r>
                    </a:p>
                  </a:txBody>
                  <a:tcPr marL="109728"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02920" y="5029200"/>
            <a:ext cx="11219688" cy="1005840"/>
          </a:xfrm>
          <a:prstGeom prst="roundRect">
            <a:avLst>
              <a:gd name="adj" fmla="val 12000"/>
            </a:avLst>
          </a:prstGeom>
          <a:solidFill>
            <a:srgbClr val="12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Weight Initialization  →  Better Learning  →  Faster and More Stable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bg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" y="0"/>
            <a:ext cx="12191695" cy="6858000"/>
          </a:xfrm>
          <a:prstGeom prst="rect">
            <a:avLst/>
          </a:prstGeom>
          <a:solidFill>
            <a:srgbClr val="0B1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310128"/>
            <a:ext cx="2286000" cy="50292"/>
          </a:xfrm>
          <a:prstGeom prst="rect">
            <a:avLst/>
          </a:prstGeom>
          <a:solidFill>
            <a:srgbClr val="7B2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31920" y="4389120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121C45"/>
          </a:solidFill>
          <a:ln w="15875">
            <a:solidFill>
              <a:srgbClr val="7B2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1575</Words>
  <Application>Microsoft Office PowerPoint</Application>
  <PresentationFormat>Widescreen</PresentationFormat>
  <Paragraphs>368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Pratham Pimpalikar</dc:creator>
  <cp:keywords/>
  <dc:description>generated using python-pptx</dc:description>
  <cp:lastModifiedBy>Pratham Pimpalikar</cp:lastModifiedBy>
  <cp:revision>3</cp:revision>
  <dcterms:created xsi:type="dcterms:W3CDTF">2013-01-27T09:14:16Z</dcterms:created>
  <dcterms:modified xsi:type="dcterms:W3CDTF">2026-09-03T08:39:54Z</dcterms:modified>
  <cp:category/>
</cp:coreProperties>
</file>